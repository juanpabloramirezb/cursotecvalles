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y="6858000" cx="12192000"/>
  <p:notesSz cx="6858000" cy="9144000"/>
  <p:embeddedFontLst>
    <p:embeddedFont>
      <p:font typeface="Open Sans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font" Target="fonts/OpenSansLight-regular.fntdata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font" Target="fonts/OpenSansLight-italic.fntdata"/><Relationship Id="rId14" Type="http://schemas.openxmlformats.org/officeDocument/2006/relationships/slide" Target="slides/slide10.xml"/><Relationship Id="rId36" Type="http://schemas.openxmlformats.org/officeDocument/2006/relationships/font" Target="fonts/OpenSansLight-bold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38" Type="http://schemas.openxmlformats.org/officeDocument/2006/relationships/font" Target="fonts/OpenSansLight-bold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MX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 1">
    <p:bg>
      <p:bgPr>
        <a:solidFill>
          <a:srgbClr val="3F636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7" name="Google Shape;17;p2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rgbClr val="F2ECE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" name="Google Shape;18;p2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1317615" y="690511"/>
            <a:ext cx="5185821" cy="52530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3">
  <p:cSld name="Title and 2 Content 3">
    <p:bg>
      <p:bgPr>
        <a:solidFill>
          <a:srgbClr val="F2ECE9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1468815" y="2057401"/>
            <a:ext cx="3068678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eriod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arenR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lphaLcParenR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romanLcPeriod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2" type="body"/>
          </p:nvPr>
        </p:nvSpPr>
        <p:spPr>
          <a:xfrm>
            <a:off x="5191727" y="2057401"/>
            <a:ext cx="6085857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25" name="Google Shape;25;p3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abla">
  <p:cSld name="Título y tabla">
    <p:bg>
      <p:bgPr>
        <a:solidFill>
          <a:srgbClr val="F2ECE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35" name="Google Shape;35;p5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" name="Google Shape;36;p5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buClr>
                <a:schemeClr val="dk1"/>
              </a:buClr>
              <a:buSzPts val="1200"/>
              <a:buFont typeface="Open Sans Light"/>
              <a:buNone/>
              <a:defRPr b="1"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1">
  <p:cSld name="Agenda 1">
    <p:bg>
      <p:bgPr>
        <a:solidFill>
          <a:srgbClr val="E9F0F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1455583" y="737115"/>
            <a:ext cx="4640418" cy="5407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6388461" y="737115"/>
            <a:ext cx="4449712" cy="5407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3F636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" name="Google Shape;46;p7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Picture">
  <p:cSld name="Title and Picture">
    <p:bg>
      <p:bgPr>
        <a:solidFill>
          <a:srgbClr val="E9F0F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353827" y="1278294"/>
            <a:ext cx="5000318" cy="49041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/>
          <p:nvPr>
            <p:ph idx="2" type="pic"/>
          </p:nvPr>
        </p:nvSpPr>
        <p:spPr>
          <a:xfrm>
            <a:off x="6642169" y="-1"/>
            <a:ext cx="4635426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8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2" name="Google Shape;52;p8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53" name="Google Shape;53;p8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rgbClr val="3F636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Title and Subtitle">
    <p:bg>
      <p:bgPr>
        <a:solidFill>
          <a:srgbClr val="E9F0F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1353827" y="3508311"/>
            <a:ext cx="9923770" cy="1438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/>
          <p:nvPr>
            <p:ph idx="2" type="pic"/>
          </p:nvPr>
        </p:nvSpPr>
        <p:spPr>
          <a:xfrm>
            <a:off x="915600" y="0"/>
            <a:ext cx="10361995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9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59" name="Google Shape;59;p9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rgbClr val="3F636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">
  <p:cSld name="Title and Content ">
    <p:bg>
      <p:bgPr>
        <a:solidFill>
          <a:srgbClr val="E9F0F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468815" y="503852"/>
            <a:ext cx="9150675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1450153" y="2108722"/>
            <a:ext cx="8552264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cxnSp>
        <p:nvCxnSpPr>
          <p:cNvPr id="64" name="Google Shape;64;p10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3F636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10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bg>
      <p:bgPr>
        <a:solidFill>
          <a:schemeClr val="accent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1038031" y="1068169"/>
            <a:ext cx="10115939" cy="26815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0" name="Google Shape;70;p11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">
  <p:cSld name="Title and 2 Content ">
    <p:bg>
      <p:bgPr>
        <a:solidFill>
          <a:srgbClr val="F2ECE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>
            <a:off x="1468814" y="2057401"/>
            <a:ext cx="4627186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2" type="body"/>
          </p:nvPr>
        </p:nvSpPr>
        <p:spPr>
          <a:xfrm>
            <a:off x="6668185" y="2057401"/>
            <a:ext cx="4609399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78" name="Google Shape;78;p12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icture and Content">
  <p:cSld name="Title Picture and Content">
    <p:bg>
      <p:bgPr>
        <a:solidFill>
          <a:srgbClr val="F2ECE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1503363" y="2061969"/>
            <a:ext cx="4592637" cy="4805362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6787262" y="2052736"/>
            <a:ext cx="4490320" cy="4800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86" name="Google Shape;86;p13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Table">
  <p:cSld name="Title Content and Table">
    <p:bg>
      <p:bgPr>
        <a:solidFill>
          <a:srgbClr val="F2ECE9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1468814" y="2057400"/>
            <a:ext cx="3091027" cy="3867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14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91" name="Google Shape;91;p14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 2">
  <p:cSld name="Title and 2 Content 2">
    <p:bg>
      <p:bgPr>
        <a:solidFill>
          <a:srgbClr val="F2ECE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F4D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95" name="Google Shape;95;p15"/>
          <p:cNvCxnSpPr/>
          <p:nvPr/>
        </p:nvCxnSpPr>
        <p:spPr>
          <a:xfrm>
            <a:off x="896628" y="0"/>
            <a:ext cx="0" cy="5943600"/>
          </a:xfrm>
          <a:prstGeom prst="straightConnector1">
            <a:avLst/>
          </a:prstGeom>
          <a:noFill/>
          <a:ln cap="flat" cmpd="sng" w="19050">
            <a:solidFill>
              <a:srgbClr val="DF978A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6" name="Google Shape;96;p15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" type="body"/>
          </p:nvPr>
        </p:nvSpPr>
        <p:spPr>
          <a:xfrm>
            <a:off x="1468814" y="2066731"/>
            <a:ext cx="6452876" cy="3867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355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55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5"/>
          <p:cNvSpPr txBox="1"/>
          <p:nvPr>
            <p:ph idx="2" type="body"/>
          </p:nvPr>
        </p:nvSpPr>
        <p:spPr>
          <a:xfrm>
            <a:off x="8169196" y="2066731"/>
            <a:ext cx="3108391" cy="38675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55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2pPr>
            <a:lvl3pPr indent="-355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Thank you 1">
    <p:bg>
      <p:bgPr>
        <a:solidFill>
          <a:srgbClr val="3F636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/>
          <p:nvPr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02" name="Google Shape;102;p16"/>
          <p:cNvCxnSpPr/>
          <p:nvPr/>
        </p:nvCxnSpPr>
        <p:spPr>
          <a:xfrm>
            <a:off x="896628" y="0"/>
            <a:ext cx="0" cy="6858000"/>
          </a:xfrm>
          <a:prstGeom prst="straightConnector1">
            <a:avLst/>
          </a:prstGeom>
          <a:noFill/>
          <a:ln cap="flat" cmpd="sng" w="19050">
            <a:solidFill>
              <a:srgbClr val="F2ECE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3" name="Google Shape;103;p16"/>
          <p:cNvSpPr/>
          <p:nvPr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rgbClr val="D4E2E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04" name="Google Shape;104;p16"/>
          <p:cNvSpPr txBox="1"/>
          <p:nvPr>
            <p:ph type="title"/>
          </p:nvPr>
        </p:nvSpPr>
        <p:spPr>
          <a:xfrm>
            <a:off x="1317614" y="690511"/>
            <a:ext cx="4964671" cy="52530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6282286" y="690465"/>
            <a:ext cx="4784372" cy="52530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>
                <a:solidFill>
                  <a:schemeClr val="lt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  <a:defRPr sz="1600"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07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57070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412136" y="5943601"/>
            <a:ext cx="968983" cy="651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1317615" y="690511"/>
            <a:ext cx="6064962" cy="52530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</a:pPr>
            <a:r>
              <a:rPr b="1" lang="es-MX">
                <a:solidFill>
                  <a:schemeClr val="lt1"/>
                </a:solidFill>
              </a:rPr>
              <a:t>virtualización y contenedores virtuales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468814" y="503852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s-MX">
                <a:latin typeface="Arial"/>
                <a:ea typeface="Arial"/>
                <a:cs typeface="Arial"/>
                <a:sym typeface="Arial"/>
              </a:rPr>
              <a:t>Contexto computacional</a:t>
            </a:r>
            <a:endParaRPr/>
          </a:p>
        </p:txBody>
      </p:sp>
      <p:sp>
        <p:nvSpPr>
          <p:cNvPr id="116" name="Google Shape;116;p18"/>
          <p:cNvSpPr txBox="1"/>
          <p:nvPr>
            <p:ph idx="1" type="body"/>
          </p:nvPr>
        </p:nvSpPr>
        <p:spPr>
          <a:xfrm>
            <a:off x="1468815" y="2057401"/>
            <a:ext cx="3068678" cy="4119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s-MX"/>
              <a:t>El contexto computacional se refiere a todo el entorno de datos, recursos y condiciones que rodean y afectan a un proceso o sistema computacional.</a:t>
            </a:r>
            <a:endParaRPr/>
          </a:p>
        </p:txBody>
      </p:sp>
      <p:grpSp>
        <p:nvGrpSpPr>
          <p:cNvPr id="117" name="Google Shape;117;p18"/>
          <p:cNvGrpSpPr/>
          <p:nvPr/>
        </p:nvGrpSpPr>
        <p:grpSpPr>
          <a:xfrm>
            <a:off x="5191727" y="2062627"/>
            <a:ext cx="6085857" cy="4109009"/>
            <a:chOff x="0" y="5226"/>
            <a:chExt cx="6085857" cy="4109009"/>
          </a:xfrm>
        </p:grpSpPr>
        <p:sp>
          <p:nvSpPr>
            <p:cNvPr id="118" name="Google Shape;118;p18"/>
            <p:cNvSpPr/>
            <p:nvPr/>
          </p:nvSpPr>
          <p:spPr>
            <a:xfrm>
              <a:off x="0" y="5226"/>
              <a:ext cx="6085857" cy="608742"/>
            </a:xfrm>
            <a:prstGeom prst="roundRect">
              <a:avLst>
                <a:gd fmla="val 10000" name="adj"/>
              </a:avLst>
            </a:prstGeom>
            <a:solidFill>
              <a:srgbClr val="DCE6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>
              <a:off x="184144" y="142193"/>
              <a:ext cx="335135" cy="334808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>
              <a:off x="703424" y="5226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 txBox="1"/>
            <p:nvPr/>
          </p:nvSpPr>
          <p:spPr>
            <a:xfrm>
              <a:off x="703424" y="5226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475" lIns="72475" spcFirstLastPara="1" rIns="72475" wrap="square" tIns="7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 Light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Configuración del hardware</a:t>
              </a:r>
              <a:r>
                <a:rPr b="0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: La capacidad de procesamiento, memoria, almacenamiento y otros recursos físicos disponibles en el Sistema.</a:t>
              </a:r>
              <a:endPara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2" name="Google Shape;122;p18"/>
            <p:cNvSpPr/>
            <p:nvPr/>
          </p:nvSpPr>
          <p:spPr>
            <a:xfrm>
              <a:off x="0" y="861270"/>
              <a:ext cx="6085857" cy="608742"/>
            </a:xfrm>
            <a:prstGeom prst="roundRect">
              <a:avLst>
                <a:gd fmla="val 10000" name="adj"/>
              </a:avLst>
            </a:prstGeom>
            <a:solidFill>
              <a:srgbClr val="DCE6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8"/>
            <p:cNvSpPr/>
            <p:nvPr/>
          </p:nvSpPr>
          <p:spPr>
            <a:xfrm>
              <a:off x="184144" y="998237"/>
              <a:ext cx="335135" cy="33480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8"/>
            <p:cNvSpPr/>
            <p:nvPr/>
          </p:nvSpPr>
          <p:spPr>
            <a:xfrm>
              <a:off x="703424" y="861270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8"/>
            <p:cNvSpPr txBox="1"/>
            <p:nvPr/>
          </p:nvSpPr>
          <p:spPr>
            <a:xfrm>
              <a:off x="703424" y="861270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475" lIns="72475" spcFirstLastPara="1" rIns="72475" wrap="square" tIns="7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 Light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Entorno de software</a:t>
              </a:r>
              <a:r>
                <a:rPr b="0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: Incluye el sistema operativo, bibliotecas, frameworks y cualquier software necesario para ejecutar las tareas.</a:t>
              </a:r>
              <a:endPara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0" y="1717314"/>
              <a:ext cx="6085857" cy="608742"/>
            </a:xfrm>
            <a:prstGeom prst="roundRect">
              <a:avLst>
                <a:gd fmla="val 10000" name="adj"/>
              </a:avLst>
            </a:prstGeom>
            <a:solidFill>
              <a:srgbClr val="DCE6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184144" y="1854281"/>
              <a:ext cx="335135" cy="33480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703424" y="1717314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8"/>
            <p:cNvSpPr txBox="1"/>
            <p:nvPr/>
          </p:nvSpPr>
          <p:spPr>
            <a:xfrm>
              <a:off x="703424" y="1717314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475" lIns="72475" spcFirstLastPara="1" rIns="72475" wrap="square" tIns="7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 Light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Datos de entrada y condiciones iniciales</a:t>
              </a:r>
              <a:r>
                <a:rPr b="0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: Información que el sistema recibe y utiliza para realizar una tarea específica, además de los parámetros de configuración.</a:t>
              </a:r>
              <a:endPara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30" name="Google Shape;130;p18"/>
            <p:cNvSpPr/>
            <p:nvPr/>
          </p:nvSpPr>
          <p:spPr>
            <a:xfrm>
              <a:off x="0" y="2573357"/>
              <a:ext cx="6085857" cy="608742"/>
            </a:xfrm>
            <a:prstGeom prst="roundRect">
              <a:avLst>
                <a:gd fmla="val 10000" name="adj"/>
              </a:avLst>
            </a:prstGeom>
            <a:solidFill>
              <a:srgbClr val="DCE6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/>
            <p:nvPr/>
          </p:nvSpPr>
          <p:spPr>
            <a:xfrm>
              <a:off x="184144" y="2710324"/>
              <a:ext cx="335135" cy="33480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8"/>
            <p:cNvSpPr/>
            <p:nvPr/>
          </p:nvSpPr>
          <p:spPr>
            <a:xfrm>
              <a:off x="703424" y="2573357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8"/>
            <p:cNvSpPr txBox="1"/>
            <p:nvPr/>
          </p:nvSpPr>
          <p:spPr>
            <a:xfrm>
              <a:off x="703424" y="2573357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475" lIns="72475" spcFirstLastPara="1" rIns="72475" wrap="square" tIns="7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 Light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Entorno de red</a:t>
              </a:r>
              <a:r>
                <a:rPr b="0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: Condiciones de conectividad y latencia, si la operación depende de la comunicación entre varios nodos o servidores.</a:t>
              </a:r>
              <a:endPara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0" y="3429401"/>
              <a:ext cx="6085857" cy="608742"/>
            </a:xfrm>
            <a:prstGeom prst="roundRect">
              <a:avLst>
                <a:gd fmla="val 10000" name="adj"/>
              </a:avLst>
            </a:prstGeom>
            <a:solidFill>
              <a:srgbClr val="DCE6E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184144" y="3566368"/>
              <a:ext cx="335135" cy="334808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8"/>
            <p:cNvSpPr/>
            <p:nvPr/>
          </p:nvSpPr>
          <p:spPr>
            <a:xfrm>
              <a:off x="703424" y="3429401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703424" y="3429401"/>
              <a:ext cx="5340180" cy="6848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2475" lIns="72475" spcFirstLastPara="1" rIns="72475" wrap="square" tIns="7247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Open Sans Light"/>
                <a:buNone/>
              </a:pPr>
              <a:r>
                <a:rPr b="1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Condiciones del usuario o interacción</a:t>
              </a:r>
              <a:r>
                <a:rPr b="0" i="0" lang="es-MX" sz="1400" u="none" cap="none" strike="noStrike">
                  <a:solidFill>
                    <a:schemeClr val="dk1"/>
                  </a:solidFill>
                  <a:latin typeface="Open Sans Light"/>
                  <a:ea typeface="Open Sans Light"/>
                  <a:cs typeface="Open Sans Light"/>
                  <a:sym typeface="Open Sans Light"/>
                </a:rPr>
                <a:t>: Parámetros como permisos de acceso, preferencias y contexto de uso del usuario (ubicación, dispositivo, etc.).</a:t>
              </a:r>
              <a:endParaRPr b="0" i="0" sz="14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1468814" y="211753"/>
            <a:ext cx="9808773" cy="893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Virtualización 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1468814" y="1104901"/>
            <a:ext cx="4897480" cy="61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s-MX"/>
              <a:t>Definición de virtualización según IBM: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1288026" y="1643954"/>
            <a:ext cx="9036000" cy="856543"/>
          </a:xfrm>
          <a:prstGeom prst="rect">
            <a:avLst/>
          </a:prstGeom>
          <a:solidFill>
            <a:srgbClr val="F2F2F2"/>
          </a:solidFill>
          <a:ln cap="rnd" cmpd="sng" w="349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MX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“La virtualización es un proceso que permite una utilización más eficiente del hardware informático físico y es la base de la computación en nube”</a:t>
            </a:r>
            <a:endParaRPr/>
          </a:p>
        </p:txBody>
      </p:sp>
      <p:pic>
        <p:nvPicPr>
          <p:cNvPr descr="Interfaz de usuario gráfica  El contenido generado por IA puede ser incorrecto."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7941" y="2909689"/>
            <a:ext cx="5336117" cy="368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/>
          <p:nvPr>
            <p:ph type="title"/>
          </p:nvPr>
        </p:nvSpPr>
        <p:spPr>
          <a:xfrm>
            <a:off x="1468814" y="150175"/>
            <a:ext cx="9808773" cy="1427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s-MX" sz="2800"/>
              <a:t>La virtualización aporta varios beneficios a los operadores de centros de datos y proveedores de servicios:</a:t>
            </a:r>
            <a:endParaRPr sz="2800"/>
          </a:p>
        </p:txBody>
      </p:sp>
      <p:sp>
        <p:nvSpPr>
          <p:cNvPr id="151" name="Google Shape;151;p20"/>
          <p:cNvSpPr txBox="1"/>
          <p:nvPr/>
        </p:nvSpPr>
        <p:spPr>
          <a:xfrm>
            <a:off x="908096" y="1905558"/>
            <a:ext cx="6840997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Eficiencia de recursos: 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 virtualización permite ejecutar varias aplicaciones, cada una en su propia máquina virtual, con su propio sistema operativo, en una sola computadora física.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Gestión más sencilla: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reemplazar las computadoras físicas con máquinas virtuales definidas por software facilita el uso y la gestión de políticas escritas en software.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Aprovisionamiento ágil: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crear y desplegar nuevas máquinas virtuales toma minutos en lugar de horas o días.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Reducción de costos: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menos hardware físico se traduce en menor consumo de energía, espacio y mantenimiento.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Recuperación ante desastres: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los snapshots y la portabilidad de las VMs facilitan respaldos y restauraciones rápidas.</a:t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¿Cómo funciona la virtualización?</a:t>
            </a:r>
            <a:endParaRPr sz="4000"/>
          </a:p>
        </p:txBody>
      </p:sp>
      <p:sp>
        <p:nvSpPr>
          <p:cNvPr id="157" name="Google Shape;157;p21"/>
          <p:cNvSpPr txBox="1"/>
          <p:nvPr/>
        </p:nvSpPr>
        <p:spPr>
          <a:xfrm>
            <a:off x="776747" y="1671023"/>
            <a:ext cx="109924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cuenta con 2 servidores físicos en donde se tiene un promedio de uso de los recursos computacionales del 30%. 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6646605" y="2507226"/>
            <a:ext cx="5034116" cy="314632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1061883" y="2507226"/>
            <a:ext cx="5034116" cy="314632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0" name="Google Shape;160;p21"/>
          <p:cNvSpPr/>
          <p:nvPr/>
        </p:nvSpPr>
        <p:spPr>
          <a:xfrm>
            <a:off x="2792360" y="2507226"/>
            <a:ext cx="3303639" cy="314632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7089056" y="3824747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30%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4021391" y="3824748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70%</a:t>
            </a:r>
            <a:endParaRPr/>
          </a:p>
        </p:txBody>
      </p:sp>
      <p:sp>
        <p:nvSpPr>
          <p:cNvPr id="163" name="Google Shape;163;p21"/>
          <p:cNvSpPr txBox="1"/>
          <p:nvPr/>
        </p:nvSpPr>
        <p:spPr>
          <a:xfrm>
            <a:off x="3077493" y="578311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Servidor 1</a:t>
            </a:r>
            <a:endParaRPr/>
          </a:p>
        </p:txBody>
      </p:sp>
      <p:sp>
        <p:nvSpPr>
          <p:cNvPr id="164" name="Google Shape;164;p21"/>
          <p:cNvSpPr/>
          <p:nvPr/>
        </p:nvSpPr>
        <p:spPr>
          <a:xfrm>
            <a:off x="363794" y="6282813"/>
            <a:ext cx="825909" cy="21006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1351933" y="6203178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Utilizado </a:t>
            </a:r>
            <a:endParaRPr/>
          </a:p>
        </p:txBody>
      </p:sp>
      <p:sp>
        <p:nvSpPr>
          <p:cNvPr id="166" name="Google Shape;166;p21"/>
          <p:cNvSpPr/>
          <p:nvPr/>
        </p:nvSpPr>
        <p:spPr>
          <a:xfrm>
            <a:off x="2738289" y="6297562"/>
            <a:ext cx="825909" cy="21006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3726428" y="621792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 utilizado</a:t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8377082" y="2507226"/>
            <a:ext cx="3303639" cy="314632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8662215" y="578311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Servidor 2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9606112" y="3849554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70%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1764889" y="3977148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30%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¿Cómo funciona la virtualización?</a:t>
            </a:r>
            <a:endParaRPr sz="4000"/>
          </a:p>
        </p:txBody>
      </p:sp>
      <p:sp>
        <p:nvSpPr>
          <p:cNvPr id="177" name="Google Shape;177;p22"/>
          <p:cNvSpPr/>
          <p:nvPr/>
        </p:nvSpPr>
        <p:spPr>
          <a:xfrm>
            <a:off x="6646605" y="2507226"/>
            <a:ext cx="5034116" cy="314632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1061883" y="2507226"/>
            <a:ext cx="5034116" cy="314632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1061883" y="2507225"/>
            <a:ext cx="3303639" cy="314632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2286002" y="3889532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60%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3077493" y="578311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Servidor 1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363794" y="6282813"/>
            <a:ext cx="825909" cy="210062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1351933" y="6203178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Utilizado 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2738289" y="6297562"/>
            <a:ext cx="825909" cy="21006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261E1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3726428" y="621792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 utilizado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8662215" y="5783117"/>
            <a:ext cx="13666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Servidor 2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4837468" y="3889532"/>
            <a:ext cx="84557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40%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776747" y="1671023"/>
            <a:ext cx="1099246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utilizarán los dos servidores en un solo servidor físico. Esto permite el aprovechamiento y mejor uso de los recursos computacionales ( CPU , Almacenamiento y redes) </a:t>
            </a:r>
            <a:endParaRPr/>
          </a:p>
        </p:txBody>
      </p:sp>
      <p:cxnSp>
        <p:nvCxnSpPr>
          <p:cNvPr id="189" name="Google Shape;189;p22"/>
          <p:cNvCxnSpPr/>
          <p:nvPr/>
        </p:nvCxnSpPr>
        <p:spPr>
          <a:xfrm flipH="1" rot="10800000">
            <a:off x="6666271" y="2507225"/>
            <a:ext cx="5004619" cy="3146322"/>
          </a:xfrm>
          <a:prstGeom prst="straightConnector1">
            <a:avLst/>
          </a:prstGeom>
          <a:noFill/>
          <a:ln cap="flat" cmpd="sng" w="127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934091" y="303165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Anillos de privilegios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685881" y="1638414"/>
            <a:ext cx="1099246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 mecanismo de seguridad que se utiliza para gestionar el acceso a recursos y la ejecución de instrucciones en un sistema operativo.</a:t>
            </a:r>
            <a:endParaRPr/>
          </a:p>
        </p:txBody>
      </p:sp>
      <p:pic>
        <p:nvPicPr>
          <p:cNvPr descr="A diagram of a ring  Description automatically generated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8452" y="2453994"/>
            <a:ext cx="4984955" cy="3627478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685881" y="2772582"/>
            <a:ext cx="5196186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Seguridad: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Los anillos de privilegios proporcionan un mecanismo robusto para proteger el núcleo del sistema operativo de accesos no autorizados.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Estabilidad: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 limitar el acceso a ciertas operaciones, se reducen los riesgos de fallos del sistema causados por aplicaciones mal comportadas.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 de Recursos:</a:t>
            </a:r>
            <a:r>
              <a:rPr b="0" i="0" lang="es-MX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Permiten un control más preciso sobre cómo y quién accede a los recursos del sistema.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Anillos de privilegios</a:t>
            </a:r>
            <a:endParaRPr/>
          </a:p>
        </p:txBody>
      </p:sp>
      <p:sp>
        <p:nvSpPr>
          <p:cNvPr id="203" name="Google Shape;203;p24"/>
          <p:cNvSpPr txBox="1"/>
          <p:nvPr/>
        </p:nvSpPr>
        <p:spPr>
          <a:xfrm>
            <a:off x="776747" y="1671023"/>
            <a:ext cx="109924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 anillo de privilegios tiene dos modos: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661302" y="2458065"/>
            <a:ext cx="5196186" cy="323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kernel</a:t>
            </a:r>
            <a:endParaRPr b="1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 ejecución de cualquier instrucción del CPU.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Acceso sin restricciones al hardware.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Referenciar cualquier dirección de memoria.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Generalmente se encuentra en el nivel más bajo (nivel 0).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Los errores en este nivel son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catastróficos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4"/>
          <p:cNvSpPr/>
          <p:nvPr/>
        </p:nvSpPr>
        <p:spPr>
          <a:xfrm>
            <a:off x="6573026" y="2578479"/>
            <a:ext cx="519618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MX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usuario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El código no tiene acceso directo al hardware. 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Direcciones de memoria limitadas.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utilizan API para realizar el acceso al hardware.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posible 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recuperarse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de los errores.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mputer chip with yellow and red text  Description automatically generated with medium confidence"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0263" y="5574128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er Icon Vectores, Iconos, Gráficos y Fondos para Descargar Gratis" id="207" name="Google Shape;207;p24"/>
          <p:cNvPicPr preferRelativeResize="0"/>
          <p:nvPr/>
        </p:nvPicPr>
        <p:blipFill rotWithShape="1">
          <a:blip r:embed="rId4">
            <a:alphaModFix/>
          </a:blip>
          <a:srcRect b="21374" l="24389" r="22716" t="21747"/>
          <a:stretch/>
        </p:blipFill>
        <p:spPr>
          <a:xfrm>
            <a:off x="8482539" y="5186977"/>
            <a:ext cx="1428377" cy="15359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24"/>
          <p:cNvCxnSpPr/>
          <p:nvPr/>
        </p:nvCxnSpPr>
        <p:spPr>
          <a:xfrm>
            <a:off x="6096000" y="2458065"/>
            <a:ext cx="0" cy="4399935"/>
          </a:xfrm>
          <a:prstGeom prst="straightConnector1">
            <a:avLst/>
          </a:prstGeom>
          <a:noFill/>
          <a:ln cap="flat" cmpd="sng" w="571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¿Qué es un Hypervisor?</a:t>
            </a:r>
            <a:endParaRPr sz="4000"/>
          </a:p>
        </p:txBody>
      </p:sp>
      <p:sp>
        <p:nvSpPr>
          <p:cNvPr id="214" name="Google Shape;214;p25"/>
          <p:cNvSpPr txBox="1"/>
          <p:nvPr/>
        </p:nvSpPr>
        <p:spPr>
          <a:xfrm>
            <a:off x="599767" y="1726008"/>
            <a:ext cx="10992465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También conocido como 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monitor de máquina virtual (VMM). 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 software, firmware o hardware que crea y gestiona máquinas virtuales, el cual  permite que múltiples sistemas operativos se ejecuten simultáneamente en un solo host físico, compartiendo los recursos del hardware.</a:t>
            </a:r>
            <a:endParaRPr/>
          </a:p>
        </p:txBody>
      </p:sp>
      <p:pic>
        <p:nvPicPr>
          <p:cNvPr descr="A screenshot of a computer program  Description automatically generated" id="215" name="Google Shape;21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85726" y="3055374"/>
            <a:ext cx="4895850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Diferencias</a:t>
            </a:r>
            <a:endParaRPr/>
          </a:p>
        </p:txBody>
      </p:sp>
      <p:sp>
        <p:nvSpPr>
          <p:cNvPr id="221" name="Google Shape;221;p26"/>
          <p:cNvSpPr txBox="1"/>
          <p:nvPr/>
        </p:nvSpPr>
        <p:spPr>
          <a:xfrm>
            <a:off x="353959" y="2092553"/>
            <a:ext cx="2920182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ejecuta directamente sobre el hardware físico del host, sin necesidad de un sistema operativo subyacente.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eficiente y proporciona un alto rendimiento y control directo sobre los recursos de hardware.</a:t>
            </a:r>
            <a:endParaRPr/>
          </a:p>
        </p:txBody>
      </p:sp>
      <p:pic>
        <p:nvPicPr>
          <p:cNvPr descr="A screenshot of a computer program  Description automatically generated" id="222" name="Google Shape;22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20255" y="1948119"/>
            <a:ext cx="4895850" cy="35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6"/>
          <p:cNvSpPr txBox="1"/>
          <p:nvPr/>
        </p:nvSpPr>
        <p:spPr>
          <a:xfrm>
            <a:off x="8662219" y="2092553"/>
            <a:ext cx="2920182" cy="4339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ejecuta sobre un sistema operativo anfitrión (host), utilizando los recursos del sistema operativo subyacente.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más fácil de instalar y gestionar, pero puede tener una ligera sobrecarga debido a la capa adicional del sistema operativo anfitrión.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Ejemplos </a:t>
            </a:r>
            <a:endParaRPr/>
          </a:p>
        </p:txBody>
      </p:sp>
      <p:sp>
        <p:nvSpPr>
          <p:cNvPr id="229" name="Google Shape;229;p27"/>
          <p:cNvSpPr txBox="1"/>
          <p:nvPr/>
        </p:nvSpPr>
        <p:spPr>
          <a:xfrm>
            <a:off x="1799301" y="2073760"/>
            <a:ext cx="115037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 1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9261986" y="2054095"/>
            <a:ext cx="124091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 2</a:t>
            </a:r>
            <a:endParaRPr/>
          </a:p>
        </p:txBody>
      </p:sp>
      <p:pic>
        <p:nvPicPr>
          <p:cNvPr id="231" name="Google Shape;2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9936" y="2782569"/>
            <a:ext cx="5239481" cy="38295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rtualBox Logo PNG Transparent &amp; SVG Vector - Freebie Supply" id="232" name="Google Shape;232;p27"/>
          <p:cNvPicPr preferRelativeResize="0"/>
          <p:nvPr/>
        </p:nvPicPr>
        <p:blipFill rotWithShape="1">
          <a:blip r:embed="rId4">
            <a:alphaModFix/>
          </a:blip>
          <a:srcRect b="35497" l="11420" r="9483" t="36804"/>
          <a:stretch/>
        </p:blipFill>
        <p:spPr>
          <a:xfrm>
            <a:off x="6782750" y="2609580"/>
            <a:ext cx="4958472" cy="13023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27"/>
          <p:cNvCxnSpPr/>
          <p:nvPr/>
        </p:nvCxnSpPr>
        <p:spPr>
          <a:xfrm>
            <a:off x="6105832" y="2458065"/>
            <a:ext cx="0" cy="4399935"/>
          </a:xfrm>
          <a:prstGeom prst="straightConnector1">
            <a:avLst/>
          </a:prstGeom>
          <a:noFill/>
          <a:ln cap="flat" cmpd="sng" w="571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s-MX" sz="4000"/>
              <a:t>Paravirtualización</a:t>
            </a:r>
            <a:endParaRPr/>
          </a:p>
        </p:txBody>
      </p:sp>
      <p:sp>
        <p:nvSpPr>
          <p:cNvPr id="239" name="Google Shape;239;p28"/>
          <p:cNvSpPr txBox="1"/>
          <p:nvPr/>
        </p:nvSpPr>
        <p:spPr>
          <a:xfrm>
            <a:off x="639095" y="1827953"/>
            <a:ext cx="970444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una técnica de virtualización que mejora el rendimiento y la eficiencia de las máquinas virtuales (VMs) mediante la colaboración entre el </a:t>
            </a: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hipervisor</a:t>
            </a:r>
            <a:r>
              <a:rPr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y el </a:t>
            </a:r>
            <a:r>
              <a:rPr b="1"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sistema operativo huésped</a:t>
            </a:r>
            <a:r>
              <a:rPr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766916" y="3628103"/>
            <a:ext cx="4178710" cy="1991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Características: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Modificación del Sistema Operativo Huésped.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Interfaz de Comunicación.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Mejora del Rendimiento.</a:t>
            </a:r>
            <a:endParaRPr/>
          </a:p>
        </p:txBody>
      </p:sp>
      <p:pic>
        <p:nvPicPr>
          <p:cNvPr id="241" name="Google Shape;24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52422" y="3900602"/>
            <a:ext cx="6449325" cy="2734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Diferencias entre la paravirtualización y la virtualización</a:t>
            </a:r>
            <a:endParaRPr sz="4000"/>
          </a:p>
        </p:txBody>
      </p:sp>
      <p:sp>
        <p:nvSpPr>
          <p:cNvPr id="247" name="Google Shape;247;p29"/>
          <p:cNvSpPr txBox="1"/>
          <p:nvPr/>
        </p:nvSpPr>
        <p:spPr>
          <a:xfrm>
            <a:off x="344128" y="1605934"/>
            <a:ext cx="556505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Virtualización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No requiere modificaciones en el sistema operativo huésped.</a:t>
            </a:r>
            <a:endParaRPr/>
          </a:p>
          <a:p>
            <a:pPr indent="0" lvl="0" marL="146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Puede tener una sobrecarga significativa debido a la emulación del hardware.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Altamente compatible con cualquier sistema operativo que pueda ejecutarse en el hardware físico.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Puede ser menos eficiente en el uso de recursos debido a la emulación de hardware.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Más fácil de implementar ya que no requiere cambios en los sistemas operativos huéspedes.</a:t>
            </a:r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6469626" y="1567501"/>
            <a:ext cx="5565059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Paravirtualización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Requiere modificaciones en el sistema operativo huésped para ser consciente del hipervisor.</a:t>
            </a:r>
            <a:endParaRPr/>
          </a:p>
          <a:p>
            <a:pPr indent="0" lvl="0" marL="1462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Generalmente ofrece mejor rendimiento debido a la menor sobrecarga de emulación.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Limitada a sistemas operativos que han sido modificados para soportar paravirtualización.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Más eficiente en el uso de recursos debido a la comunicación directa entre el sistema operativo huésped y el hipervisor.</a:t>
            </a:r>
            <a:endParaRPr/>
          </a:p>
          <a:p>
            <a:pPr indent="-1714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432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Más difícil de implementar debido a la necesidad de modificar los sistemas operativos huéspedes.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Virtualización de hardware</a:t>
            </a:r>
            <a:endParaRPr sz="4000"/>
          </a:p>
        </p:txBody>
      </p:sp>
      <p:sp>
        <p:nvSpPr>
          <p:cNvPr id="254" name="Google Shape;254;p30"/>
          <p:cNvSpPr txBox="1"/>
          <p:nvPr/>
        </p:nvSpPr>
        <p:spPr>
          <a:xfrm>
            <a:off x="393290" y="1770701"/>
            <a:ext cx="1164139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También conocida como </a:t>
            </a: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virtualización de hardware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o </a:t>
            </a: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virtualización asistida por hardware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, es una tecnología que permite ejecutar múltiples sistemas operativos en un solo hardware físico de manera más eficiente y con menos sobrecarga que la virtualización tradicional.</a:t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688257" y="2871906"/>
            <a:ext cx="9783097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Características: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Extensiones de Hardware : 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Los procesadores incluyen extensiones específicas para virtualización, como Intel VT-x y AMD-V, que permiten al hipervisor gestionar directamente las operaciones privilegiadas sin la necesidad de emulación completa.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Soporte de Hipervisores: 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Los hipervisores como VMware ESXi, Microsoft Hyper-V, KVM, y Xen pueden aprovechar estas extensiones de hardware para mejorar el rendimiento y la eficiencia de las máquinas virtuales.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Aislamiento y Seguridad</a:t>
            </a:r>
            <a:r>
              <a:rPr lang="es-MX" sz="1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La virtualización de hardware proporciona un mayor nivel de aislamiento entre las máquinas virtuales, mejorando la seguridad y reduciendo el riesgo de que una VM comprometida afecte a otras VMs o al host físico.</a:t>
            </a:r>
            <a:endParaRPr b="1" sz="18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¿Qué es un contenedor virtual?</a:t>
            </a:r>
            <a:endParaRPr sz="4000"/>
          </a:p>
        </p:txBody>
      </p:sp>
      <p:sp>
        <p:nvSpPr>
          <p:cNvPr id="261" name="Google Shape;261;p31"/>
          <p:cNvSpPr txBox="1"/>
          <p:nvPr/>
        </p:nvSpPr>
        <p:spPr>
          <a:xfrm>
            <a:off x="1228392" y="1809136"/>
            <a:ext cx="9920747" cy="1815882"/>
          </a:xfrm>
          <a:prstGeom prst="rect">
            <a:avLst/>
          </a:prstGeom>
          <a:solidFill>
            <a:srgbClr val="F2F2F2"/>
          </a:solidFill>
          <a:ln cap="rnd" cmpd="sng" w="349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“Los contenedores son procesos aislados ligeros que contienen todas las dependencias necesarias para ejecutar la aplicación de software. Se forman a partir de un sistema operativo virtualizado” </a:t>
            </a:r>
            <a:endParaRPr/>
          </a:p>
        </p:txBody>
      </p:sp>
      <p:pic>
        <p:nvPicPr>
          <p:cNvPr id="262" name="Google Shape;262;p31"/>
          <p:cNvPicPr preferRelativeResize="0"/>
          <p:nvPr/>
        </p:nvPicPr>
        <p:blipFill rotWithShape="1">
          <a:blip r:embed="rId3">
            <a:alphaModFix/>
          </a:blip>
          <a:srcRect b="0" l="0" r="0" t="862"/>
          <a:stretch/>
        </p:blipFill>
        <p:spPr>
          <a:xfrm>
            <a:off x="4759879" y="3811641"/>
            <a:ext cx="2672241" cy="2867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2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8" name="Google Shape;268;p32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Motores de contenedores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69" name="Google Shape;26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38801" y="1760185"/>
            <a:ext cx="3971367" cy="98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06400" y="3041733"/>
            <a:ext cx="1186800" cy="11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29767" y="3166201"/>
            <a:ext cx="1415733" cy="1304433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/>
        </p:nvSpPr>
        <p:spPr>
          <a:xfrm>
            <a:off x="398933" y="1658633"/>
            <a:ext cx="6891600" cy="418520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Realizan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virtualización 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nivel de sistema operativo.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Permiten la ejecución de múltiples contenedores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Utilizando un sistema operativo huésped.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Habilita un entorno fácil de gestionar para ejecutar contenedores.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Emplean el formato de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imágenes 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 </a:t>
            </a:r>
            <a:r>
              <a:rPr i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Open Container Initiative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(OCI). 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3" name="Google Shape;273;p32"/>
          <p:cNvSpPr/>
          <p:nvPr/>
        </p:nvSpPr>
        <p:spPr>
          <a:xfrm>
            <a:off x="8074967" y="4477133"/>
            <a:ext cx="2894800" cy="2185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74" name="Google Shape;274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07471" y="4778234"/>
            <a:ext cx="1949696" cy="1612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3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0" name="Google Shape;280;p33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es Docker?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398933" y="1658634"/>
            <a:ext cx="7174400" cy="32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una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lataforma como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ervicio (</a:t>
            </a:r>
            <a:r>
              <a:rPr i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PaaS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) de </a:t>
            </a:r>
            <a:r>
              <a:rPr b="1" lang="es-MX" sz="2133">
                <a:solidFill>
                  <a:srgbClr val="CC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contenedores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Fue lanzada en 2013 por Docker, Inc. 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Fue escrita principalmente en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Go Lang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 desarrollar, implementar y ejecutar aplicaciones de software manera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eficiente 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y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aislada</a:t>
            </a: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 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82" name="Google Shape;282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81567" y="1640670"/>
            <a:ext cx="3559000" cy="3042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es PaaS?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89" name="Google Shape;28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667" y="1634434"/>
            <a:ext cx="10720613" cy="5113732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4"/>
          <p:cNvSpPr/>
          <p:nvPr/>
        </p:nvSpPr>
        <p:spPr>
          <a:xfrm>
            <a:off x="5852467" y="1656967"/>
            <a:ext cx="2801600" cy="4930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Arquitectura de contenedores</a:t>
            </a:r>
            <a:endParaRPr sz="4000"/>
          </a:p>
        </p:txBody>
      </p:sp>
      <p:pic>
        <p:nvPicPr>
          <p:cNvPr id="296" name="Google Shape;29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099" y="2154834"/>
            <a:ext cx="8973802" cy="3924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6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4000">
                <a:latin typeface="Arial"/>
                <a:ea typeface="Arial"/>
                <a:cs typeface="Arial"/>
                <a:sym typeface="Arial"/>
              </a:rPr>
              <a:t>Características y representación abstracta de un contendor virtual</a:t>
            </a:r>
            <a:endParaRPr sz="4000"/>
          </a:p>
        </p:txBody>
      </p:sp>
      <p:pic>
        <p:nvPicPr>
          <p:cNvPr id="302" name="Google Shape;30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52689" y="1817013"/>
            <a:ext cx="4201111" cy="4286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530942" y="1817013"/>
            <a:ext cx="5565058" cy="4664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Deben ejecutarse sobre un 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SO huésped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emplean 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motores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de contenedores (p. ej. Docker, Singularity)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Aislamiento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Portabilidad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Se ejecutan en diferentes SO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Eficiencia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términos de consumo de recursos.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Ligeros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en comparación la VM.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Flexibilidad: 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pueden utilizar en diferentes aplicaciones, desde web hasta base de datos.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7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09" name="Google Shape;309;p37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Redes y contenedores virtuales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10" name="Google Shape;310;p37"/>
          <p:cNvSpPr txBox="1"/>
          <p:nvPr/>
        </p:nvSpPr>
        <p:spPr>
          <a:xfrm>
            <a:off x="567033" y="1808467"/>
            <a:ext cx="6200400" cy="352849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40256" lvl="0" marL="609585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 la comunicación con el mundo externo y entre contenedores.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 exponer puertos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 la segmentación a nivel de red.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Existen diferentes tipos de red.</a:t>
            </a:r>
            <a:endParaRPr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11" name="Google Shape;3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5300" y="1507533"/>
            <a:ext cx="6275200" cy="509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8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Representación conceptual de las redes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18" name="Google Shape;31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85867"/>
            <a:ext cx="10820400" cy="501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9"/>
          <p:cNvSpPr txBox="1"/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s-MX" sz="3600">
                <a:latin typeface="Arial"/>
                <a:ea typeface="Arial"/>
                <a:cs typeface="Arial"/>
                <a:sym typeface="Arial"/>
              </a:rPr>
              <a:t>¿Cómo almacenan datos los contenedores virtuales?</a:t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838200" y="1483401"/>
            <a:ext cx="9920700" cy="1200600"/>
          </a:xfrm>
          <a:prstGeom prst="rect">
            <a:avLst/>
          </a:prstGeom>
          <a:solidFill>
            <a:srgbClr val="F2F2F2"/>
          </a:solidFill>
          <a:ln cap="rnd" cmpd="sng" w="34925">
            <a:solidFill>
              <a:srgbClr val="BFBFB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“Los contenedores virtuales pueden emplear 3 diferentes formas de almacenar datos dependiendo los requerimientos del servicio: volúmenes, bind mounts y tmpfs.”</a:t>
            </a:r>
            <a:endParaRPr/>
          </a:p>
        </p:txBody>
      </p:sp>
      <p:pic>
        <p:nvPicPr>
          <p:cNvPr descr="Diagrama  Descripción generada automáticamente" id="325" name="Google Shape;3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3401" y="2928853"/>
            <a:ext cx="7582958" cy="3667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0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1" name="Google Shape;331;p40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 Compose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2" name="Google Shape;332;p40"/>
          <p:cNvSpPr txBox="1"/>
          <p:nvPr/>
        </p:nvSpPr>
        <p:spPr>
          <a:xfrm>
            <a:off x="223232" y="1071841"/>
            <a:ext cx="6272459" cy="578615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23323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●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una herramienta para definir y ejecutar múltiples contenedores.  </a:t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●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utilizan el formato YAML para definir </a:t>
            </a:r>
            <a:r>
              <a:rPr b="1"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servicios</a:t>
            </a: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●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posible trabajar en múltiples entornos: producción, staging, development y testing.</a:t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●"/>
            </a:pPr>
            <a:r>
              <a:rPr lang="es-MX" sz="2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Permite controlar el ciclo de vida de los servicios:</a:t>
            </a:r>
            <a:endParaRPr sz="20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1" marL="12191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○"/>
            </a:pPr>
            <a:r>
              <a:rPr b="0" i="0" lang="es-MX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Iniciar, detener y reconstruir. </a:t>
            </a:r>
            <a:endParaRPr b="0" i="0" sz="2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1" marL="12191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○"/>
            </a:pPr>
            <a:r>
              <a:rPr b="0" i="0" lang="es-MX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Ver estado de los contenedores.</a:t>
            </a:r>
            <a:endParaRPr b="0" i="0" sz="2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23323" lvl="1" marL="121917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Light"/>
              <a:buChar char="○"/>
            </a:pPr>
            <a:r>
              <a:rPr b="0" i="0" lang="es-MX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Transmitir la salida de registro de los servicios en ejecución.</a:t>
            </a:r>
            <a:endParaRPr b="0" i="0" sz="2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33" name="Google Shape;33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2323301"/>
            <a:ext cx="5739568" cy="3306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1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39" name="Google Shape;339;p41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 Compose: Conceptos clave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40" name="Google Shape;340;p41"/>
          <p:cNvSpPr txBox="1"/>
          <p:nvPr/>
        </p:nvSpPr>
        <p:spPr>
          <a:xfrm>
            <a:off x="1365600" y="1892834"/>
            <a:ext cx="9460800" cy="221569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AutoNum type="arabicPeriod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Definir y construir imágenes mediante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Dockerfile.</a:t>
            </a:r>
            <a:endParaRPr b="1"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AutoNum type="arabicPeriod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Definir los servicios que componente la aplicación en un archivo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docker-compose.yml.</a:t>
            </a:r>
            <a:endParaRPr b="1"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 Light"/>
              <a:buAutoNum type="arabicPeriod"/>
            </a:pPr>
            <a:r>
              <a:rPr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Ejecutar los servicios mediante </a:t>
            </a:r>
            <a:r>
              <a:rPr b="1" lang="es-MX" sz="2133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 compose up.</a:t>
            </a:r>
            <a:endParaRPr b="1" sz="2133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2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46" name="Google Shape;346;p42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¿Como manejar un entorno multi-contenedor?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47" name="Google Shape;34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1" y="1706667"/>
            <a:ext cx="11785601" cy="4629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53" name="Google Shape;353;p43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son los archivos declarativos Compose?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1534267" y="2530700"/>
            <a:ext cx="9659200" cy="2059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“Son archivos que permiten declarar servicios mediante sentencias claras y precisas, en estos archivos se declaran parámetros, recursos y colocación de los servicios.”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4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0" name="Google Shape;360;p44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es un servicio?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1" name="Google Shape;361;p44"/>
          <p:cNvSpPr/>
          <p:nvPr/>
        </p:nvSpPr>
        <p:spPr>
          <a:xfrm>
            <a:off x="1534267" y="1895933"/>
            <a:ext cx="9659200" cy="3353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Definición abstracta de un recurso computacional dentro de una aplicación que puede escalarse/reemplazarse independientemente de otros componentes. 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Los servicios están respaldados por un conjunto de contenedores, ejecutados por la plataforma de acuerdo con los requisitos de replicación y las restricciones de colocación.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5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7" name="Google Shape;367;p45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es un Swarm?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68" name="Google Shape;368;p45"/>
          <p:cNvSpPr/>
          <p:nvPr/>
        </p:nvSpPr>
        <p:spPr>
          <a:xfrm>
            <a:off x="1534267" y="1895933"/>
            <a:ext cx="9659200" cy="384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Está formado por varios hosts Docker que se ejecutan en modo Swarm. 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Los hosts actúan como gestores y/o trabajadores. 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 host Docker determinado puede desempeñar ambas funciones.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Docker Compose  es utilizado para definir y desplegar contenedores en forma de pilas (stacks).</a:t>
            </a: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46"/>
          <p:cNvSpPr txBox="1"/>
          <p:nvPr/>
        </p:nvSpPr>
        <p:spPr>
          <a:xfrm>
            <a:off x="1328600" y="640267"/>
            <a:ext cx="9534800" cy="69752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Tipos de virtualización</a:t>
            </a:r>
            <a:endParaRPr b="1" sz="2933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74" name="Google Shape;374;p46"/>
          <p:cNvSpPr/>
          <p:nvPr/>
        </p:nvSpPr>
        <p:spPr>
          <a:xfrm>
            <a:off x="-12400" y="0"/>
            <a:ext cx="12216800" cy="1186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MX" sz="2933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¿Qué es un Node?</a:t>
            </a:r>
            <a:endParaRPr sz="2400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375" name="Google Shape;375;p46"/>
          <p:cNvSpPr/>
          <p:nvPr/>
        </p:nvSpPr>
        <p:spPr>
          <a:xfrm>
            <a:off x="1534267" y="1895933"/>
            <a:ext cx="9659200" cy="38428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28575">
            <a:solidFill>
              <a:srgbClr val="99999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Es una instancia del motor Docker. 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Participa en el enjambre.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Se puede ejecutar uno o más nodos en un servidor.</a:t>
            </a:r>
            <a:b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</a:b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440256" lvl="0" marL="609585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Open Sans Light"/>
              <a:buChar char="●"/>
            </a:pPr>
            <a:r>
              <a:rPr lang="es-MX" sz="2133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Las implementaciones de enjambres en producción suelen incluir nodos distribuidos en varios servidores.</a:t>
            </a:r>
            <a:endParaRPr sz="2133">
              <a:solidFill>
                <a:schemeClr val="dk2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">
  <a:themeElements>
    <a:clrScheme name="Custom 2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